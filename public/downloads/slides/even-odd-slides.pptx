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59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005840"/>
            <a:ext cx="3291840" cy="3291840"/>
          </a:xfrm>
          <a:prstGeom prst="ellipse">
            <a:avLst/>
          </a:prstGeom>
          <a:solidFill>
            <a:srgbClr val="9AE3D8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589020"/>
            <a:ext cx="2011680" cy="201168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WORLD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 &amp; Odd Numbers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4612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F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Divisibility by 2, pairing intuition, and parity rules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491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F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World  |  Grades 6-10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59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Definitions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rgbClr val="01595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6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57276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59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Number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193852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Divisible by 2 exactly; form 2n; ends in 0,2,4,6,8.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51460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697480"/>
            <a:ext cx="548640" cy="548640"/>
          </a:xfrm>
          <a:prstGeom prst="ellipse">
            <a:avLst/>
          </a:prstGeom>
          <a:solidFill>
            <a:srgbClr val="01595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6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262432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59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 Number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299008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divisible by 2; form 2n+1; ends in 1,3,5,7,9.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56616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749040"/>
            <a:ext cx="548640" cy="548640"/>
          </a:xfrm>
          <a:prstGeom prst="ellipse">
            <a:avLst/>
          </a:prstGeom>
          <a:solidFill>
            <a:srgbClr val="01595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6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367588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59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Pairing Intuition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04164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split into pairs with none left over = even.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47594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&amp; Odd Numbers  ·  Definitions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59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A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&amp; Formulas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8138160" cy="3154680"/>
          </a:xfrm>
          <a:prstGeom prst="roundRect">
            <a:avLst>
              <a:gd name="adj" fmla="val 2319"/>
            </a:avLst>
          </a:prstGeom>
          <a:solidFill>
            <a:srgbClr val="FFFFFF">
              <a:alpha val="94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645920"/>
            <a:ext cx="7406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+ Even = Even        Odd + Odd = Even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+ Odd = Odd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x Even = Even   Even x Odd = Even   Odd x Odd = Odd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is even, since 0 = 2 x 0.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47594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&amp; Odd Numbers  ·  Rules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THE IDEA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59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Examples 1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977640" cy="3108960"/>
          </a:xfrm>
          <a:prstGeom prst="roundRect">
            <a:avLst>
              <a:gd name="adj" fmla="val 2941"/>
            </a:avLst>
          </a:prstGeom>
          <a:solidFill>
            <a:srgbClr val="F5F7FC"/>
          </a:solidFill>
          <a:ln w="12700">
            <a:solidFill>
              <a:srgbClr val="9AE3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83080"/>
            <a:ext cx="502920" cy="502920"/>
          </a:xfrm>
          <a:prstGeom prst="ellipse">
            <a:avLst/>
          </a:prstGeom>
          <a:solidFill>
            <a:srgbClr val="01595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2316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159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234 even or odd?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3383280"/>
            <a:ext cx="3429000" cy="0"/>
          </a:xfrm>
          <a:prstGeom prst="line">
            <a:avLst/>
          </a:prstGeom>
          <a:noFill/>
          <a:ln w="12700">
            <a:solidFill>
              <a:srgbClr val="9AE3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52044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2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digit 4 -&gt; Even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754880" y="1463040"/>
            <a:ext cx="3977640" cy="3108960"/>
          </a:xfrm>
          <a:prstGeom prst="roundRect">
            <a:avLst>
              <a:gd name="adj" fmla="val 2941"/>
            </a:avLst>
          </a:prstGeom>
          <a:solidFill>
            <a:srgbClr val="F5F7FC"/>
          </a:solidFill>
          <a:ln w="12700">
            <a:solidFill>
              <a:srgbClr val="9AE3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74920" y="1783080"/>
            <a:ext cx="502920" cy="502920"/>
          </a:xfrm>
          <a:prstGeom prst="ellipse">
            <a:avLst/>
          </a:prstGeom>
          <a:solidFill>
            <a:srgbClr val="01595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07492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30" dirty="0"/>
          </a:p>
        </p:txBody>
      </p:sp>
      <p:sp>
        <p:nvSpPr>
          <p:cNvPr id="13" name="Text 11"/>
          <p:cNvSpPr txBox="1"/>
          <p:nvPr/>
        </p:nvSpPr>
        <p:spPr>
          <a:xfrm>
            <a:off x="5029200" y="242316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159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Parity of 7 + 15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0" y="3383280"/>
            <a:ext cx="3429000" cy="0"/>
          </a:xfrm>
          <a:prstGeom prst="line">
            <a:avLst/>
          </a:prstGeom>
          <a:noFill/>
          <a:ln w="12700">
            <a:solidFill>
              <a:srgbClr val="9AE3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0" y="352044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2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 + Odd = Even  (22)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47594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&amp; Odd Numbers  ·  Examples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THE IDEA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59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 2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8138160" cy="3108960"/>
          </a:xfrm>
          <a:prstGeom prst="roundRect">
            <a:avLst>
              <a:gd name="adj" fmla="val 2941"/>
            </a:avLst>
          </a:prstGeom>
          <a:solidFill>
            <a:srgbClr val="F5F7FC"/>
          </a:solidFill>
          <a:ln w="12700">
            <a:solidFill>
              <a:srgbClr val="9AE3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83080"/>
            <a:ext cx="502920" cy="502920"/>
          </a:xfrm>
          <a:prstGeom prst="ellipse">
            <a:avLst/>
          </a:prstGeom>
          <a:solidFill>
            <a:srgbClr val="01595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2316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159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x 9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3383280"/>
            <a:ext cx="7589520" cy="0"/>
          </a:xfrm>
          <a:prstGeom prst="line">
            <a:avLst/>
          </a:prstGeom>
          <a:noFill/>
          <a:ln w="12700">
            <a:solidFill>
              <a:srgbClr val="9AE3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52044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2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x Odd = Even  (54)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7594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&amp; Odd Numbers  ·  Examples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59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3131820"/>
            <a:ext cx="2926080" cy="2926080"/>
          </a:xfrm>
          <a:prstGeom prst="ellipse">
            <a:avLst/>
          </a:prstGeom>
          <a:solidFill>
            <a:srgbClr val="02C39A">
              <a:alpha val="2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9A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&amp; PRACTICE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772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 Yourself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813816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783080"/>
            <a:ext cx="7406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Classify: 81, 128, 999, 1000.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sum of two odds always even? Prove it.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square of an even number always even?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two odd numbers with product 143.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47594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F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notes with an answer key are in the companion PDF.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 &amp; Odd Numbers - Slides</dc:title>
  <dc:subject>PptxGenJS Presentation</dc:subject>
  <dc:creator>Number World</dc:creator>
  <cp:lastModifiedBy>Number World</cp:lastModifiedBy>
  <cp:revision>1</cp:revision>
  <dcterms:created xsi:type="dcterms:W3CDTF">2026-08-27T16:22:58Z</dcterms:created>
  <dcterms:modified xsi:type="dcterms:W3CDTF">2026-08-27T16:22:58Z</dcterms:modified>
</cp:coreProperties>
</file>